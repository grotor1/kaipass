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Konstantin" initials="B" lastIdx="3" clrIdx="0">
    <p:extLst>
      <p:ext uri="{19B8F6BF-5375-455C-9EA6-DF929625EA0E}">
        <p15:presenceInfo xmlns:p15="http://schemas.microsoft.com/office/powerpoint/2012/main" userId="BKonstant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DED"/>
    <a:srgbClr val="81625F"/>
    <a:srgbClr val="343F45"/>
    <a:srgbClr val="DF9398"/>
    <a:srgbClr val="C00000"/>
    <a:srgbClr val="3E3E3E"/>
    <a:srgbClr val="A67878"/>
    <a:srgbClr val="DCC4C1"/>
    <a:srgbClr val="E9E9E9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4971" autoAdjust="0"/>
  </p:normalViewPr>
  <p:slideViewPr>
    <p:cSldViewPr snapToGrid="0">
      <p:cViewPr>
        <p:scale>
          <a:sx n="96" d="100"/>
          <a:sy n="96" d="100"/>
        </p:scale>
        <p:origin x="198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140877598152418E-2"/>
          <c:y val="9.9557522123893807E-2"/>
          <c:w val="0.8383371824480369"/>
          <c:h val="0.80309734513274333"/>
        </c:manualLayout>
      </c:layout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Восток</c:v>
                </c:pt>
              </c:strCache>
            </c:strRef>
          </c:tx>
          <c:spPr>
            <a:solidFill>
              <a:schemeClr val="accent1"/>
            </a:solidFill>
            <a:ln w="12700">
              <a:noFill/>
              <a:prstDash val="solid"/>
            </a:ln>
          </c:spPr>
          <c:dPt>
            <c:idx val="0"/>
            <c:bubble3D val="0"/>
            <c:explosion val="2"/>
            <c:spPr>
              <a:solidFill>
                <a:srgbClr val="DF9398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4D1A-4F20-9061-EFFA738515F5}"/>
              </c:ext>
            </c:extLst>
          </c:dPt>
          <c:dPt>
            <c:idx val="1"/>
            <c:bubble3D val="0"/>
            <c:spPr>
              <a:solidFill>
                <a:srgbClr val="DCC4C1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4D1A-4F20-9061-EFFA738515F5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4D1A-4F20-9061-EFFA738515F5}"/>
              </c:ext>
            </c:extLst>
          </c:dPt>
          <c:dPt>
            <c:idx val="3"/>
            <c:bubble3D val="0"/>
            <c:spPr>
              <a:solidFill>
                <a:schemeClr val="folHlink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4D1A-4F20-9061-EFFA738515F5}"/>
              </c:ext>
            </c:extLst>
          </c:dPt>
          <c:cat>
            <c:strRef>
              <c:f>Sheet1!$B$1:$E$1</c:f>
              <c:strCache>
                <c:ptCount val="4"/>
                <c:pt idx="0">
                  <c:v>1 кв</c:v>
                </c:pt>
                <c:pt idx="1">
                  <c:v>2 кв</c:v>
                </c:pt>
                <c:pt idx="2">
                  <c:v>3 кв</c:v>
                </c:pt>
                <c:pt idx="3">
                  <c:v>4 кв</c:v>
                </c:pt>
              </c:strCache>
            </c:strRef>
          </c:cat>
          <c:val>
            <c:numRef>
              <c:f>Sheet1!$B$2:$E$2</c:f>
              <c:numCache>
                <c:formatCode>\О\с\н\о\в\н\о\й</c:formatCode>
                <c:ptCount val="4"/>
                <c:pt idx="0">
                  <c:v>62</c:v>
                </c:pt>
                <c:pt idx="1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1A-4F20-9061-EFFA738515F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Запад</c:v>
                </c:pt>
              </c:strCache>
            </c:strRef>
          </c:tx>
          <c:spPr>
            <a:solidFill>
              <a:schemeClr val="accent2"/>
            </a:solidFill>
            <a:ln w="12700">
              <a:solidFill>
                <a:schemeClr val="tx1"/>
              </a:solidFill>
              <a:prstDash val="solid"/>
            </a:ln>
          </c:spPr>
          <c:dPt>
            <c:idx val="0"/>
            <c:bubble3D val="0"/>
            <c:spPr>
              <a:solidFill>
                <a:schemeClr val="accent1"/>
              </a:solidFill>
              <a:ln w="12700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4D1A-4F20-9061-EFFA738515F5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6-4D1A-4F20-9061-EFFA738515F5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12700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4D1A-4F20-9061-EFFA738515F5}"/>
              </c:ext>
            </c:extLst>
          </c:dPt>
          <c:dPt>
            <c:idx val="3"/>
            <c:bubble3D val="0"/>
            <c:spPr>
              <a:solidFill>
                <a:schemeClr val="folHlink"/>
              </a:solidFill>
              <a:ln w="12700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4D1A-4F20-9061-EFFA738515F5}"/>
              </c:ext>
            </c:extLst>
          </c:dPt>
          <c:cat>
            <c:strRef>
              <c:f>Sheet1!$B$1:$E$1</c:f>
              <c:strCache>
                <c:ptCount val="4"/>
                <c:pt idx="0">
                  <c:v>1 кв</c:v>
                </c:pt>
                <c:pt idx="1">
                  <c:v>2 кв</c:v>
                </c:pt>
                <c:pt idx="2">
                  <c:v>3 кв</c:v>
                </c:pt>
                <c:pt idx="3">
                  <c:v>4 кв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9-4D1A-4F20-9061-EFFA738515F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Север</c:v>
                </c:pt>
              </c:strCache>
            </c:strRef>
          </c:tx>
          <c:spPr>
            <a:solidFill>
              <a:schemeClr val="hlink"/>
            </a:solidFill>
            <a:ln w="12700">
              <a:solidFill>
                <a:schemeClr val="tx1"/>
              </a:solidFill>
              <a:prstDash val="solid"/>
            </a:ln>
          </c:spPr>
          <c:dPt>
            <c:idx val="0"/>
            <c:bubble3D val="0"/>
            <c:spPr>
              <a:solidFill>
                <a:schemeClr val="accent1"/>
              </a:solidFill>
              <a:ln w="12700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4D1A-4F20-9061-EFFA738515F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4D1A-4F20-9061-EFFA738515F5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C-4D1A-4F20-9061-EFFA738515F5}"/>
              </c:ext>
            </c:extLst>
          </c:dPt>
          <c:dPt>
            <c:idx val="3"/>
            <c:bubble3D val="0"/>
            <c:spPr>
              <a:solidFill>
                <a:schemeClr val="folHlink"/>
              </a:solidFill>
              <a:ln w="12700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D-4D1A-4F20-9061-EFFA738515F5}"/>
              </c:ext>
            </c:extLst>
          </c:dPt>
          <c:cat>
            <c:strRef>
              <c:f>Sheet1!$B$1:$E$1</c:f>
              <c:strCache>
                <c:ptCount val="4"/>
                <c:pt idx="0">
                  <c:v>1 кв</c:v>
                </c:pt>
                <c:pt idx="1">
                  <c:v>2 кв</c:v>
                </c:pt>
                <c:pt idx="2">
                  <c:v>3 кв</c:v>
                </c:pt>
                <c:pt idx="3">
                  <c:v>4 кв</c:v>
                </c:pt>
              </c:strCache>
            </c:strRef>
          </c:cat>
          <c:val>
            <c:numRef>
              <c:f>Sheet1!$B$4:$E$4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E-4D1A-4F20-9061-EFFA738515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>
          <a:noFill/>
          <a:prstDash val="solid"/>
        </a:ln>
      </c:spPr>
    </c:plotArea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1200" b="1" i="0" u="none" strike="noStrike" baseline="0">
          <a:solidFill>
            <a:schemeClr val="tx1"/>
          </a:solidFill>
          <a:latin typeface="Calibri"/>
          <a:ea typeface="Calibri"/>
          <a:cs typeface="Calibri"/>
        </a:defRPr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87F9C-EBF5-4FB5-B765-D2582C3F4E3B}" type="datetimeFigureOut">
              <a:rPr lang="ru-RU" smtClean="0"/>
              <a:t>10.10.2020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E2FA8-5140-4B68-AE3C-12EF2D3D5E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703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you noticed how bored were you getting during the lock down?</a:t>
            </a:r>
            <a:br>
              <a:rPr lang="en-US" dirty="0"/>
            </a:br>
            <a:r>
              <a:rPr lang="en-US" dirty="0"/>
              <a:t>We had and we are not alone.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E2FA8-5140-4B68-AE3C-12EF2D3D5E8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648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According to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dirty="0"/>
              <a:t>Washington post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dirty="0"/>
              <a:t>sixty two percent of people suffered from boredom during the lock down. What means that our potential market size is more than zero point nine billion people</a:t>
            </a:r>
          </a:p>
          <a:p>
            <a:r>
              <a:rPr lang="en-US" dirty="0"/>
              <a:t>OK, narrowing it down to the number of active internet users  and we get half a billion.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dirty="0"/>
              <a:t>Being bored can affect your mental health and that is the problem we solve. </a:t>
            </a:r>
          </a:p>
          <a:p>
            <a:r>
              <a:rPr lang="en-US" dirty="0" err="1"/>
              <a:t>KaiPass</a:t>
            </a:r>
            <a:r>
              <a:rPr lang="en-US" dirty="0"/>
              <a:t> will not only entertain  you but also help to improve many aspects of your life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E2FA8-5140-4B68-AE3C-12EF2D3D5E8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823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Kaizen is a Japanese word which means "change for the better".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KaiPass</a:t>
            </a:r>
            <a:r>
              <a:rPr lang="en-US" dirty="0"/>
              <a:t> is  based on the principles from Kaizen theory</a:t>
            </a:r>
            <a:br>
              <a:rPr lang="en-US" dirty="0"/>
            </a:br>
            <a:r>
              <a:rPr lang="en-US" dirty="0"/>
              <a:t>merged with popular nowadays promotion model "Battle pass". </a:t>
            </a:r>
          </a:p>
          <a:p>
            <a:endParaRPr lang="en-US" dirty="0"/>
          </a:p>
          <a:p>
            <a:r>
              <a:rPr lang="en-US" dirty="0"/>
              <a:t>But how does it works?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E2FA8-5140-4B68-AE3C-12EF2D3D5E8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294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pretty simple.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Every user has daily, weekly and monthly tasks which are divided into</a:t>
            </a:r>
            <a:br>
              <a:rPr lang="en-US" dirty="0"/>
            </a:br>
            <a:r>
              <a:rPr lang="en-US" dirty="0"/>
              <a:t>different categories and directed to improve different </a:t>
            </a:r>
            <a:br>
              <a:rPr lang="en-US" dirty="0"/>
            </a:br>
            <a:r>
              <a:rPr lang="en-US" dirty="0"/>
              <a:t>aspects of life. Every challenge taken upgrades </a:t>
            </a:r>
            <a:r>
              <a:rPr lang="en-US" dirty="0" err="1"/>
              <a:t>KaiPass</a:t>
            </a:r>
            <a:r>
              <a:rPr lang="en-US" dirty="0"/>
              <a:t> level and gives</a:t>
            </a:r>
            <a:br>
              <a:rPr lang="en-US" dirty="0"/>
            </a:br>
            <a:r>
              <a:rPr lang="en-US" dirty="0"/>
              <a:t>awards for your profile customization.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But this idea doesn't make sense unless there is a social component</a:t>
            </a:r>
            <a:br>
              <a:rPr lang="en-US" dirty="0"/>
            </a:br>
            <a:r>
              <a:rPr lang="en-US" dirty="0"/>
              <a:t>as competition system. You can track your friends' progress </a:t>
            </a:r>
            <a:br>
              <a:rPr lang="en-US" dirty="0"/>
            </a:br>
            <a:r>
              <a:rPr lang="en-US" dirty="0"/>
              <a:t>and try to beat them.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Also there is an achievement system that will show to your friends </a:t>
            </a:r>
            <a:br>
              <a:rPr lang="en-US" dirty="0"/>
            </a:br>
            <a:r>
              <a:rPr lang="en-US" dirty="0"/>
              <a:t>your successes in sports, education, etcetera.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should encourage you to daily improve yourself with Kaizen principles. </a:t>
            </a:r>
            <a:br>
              <a:rPr lang="en-US" dirty="0"/>
            </a:br>
            <a:r>
              <a:rPr lang="en-US" dirty="0"/>
              <a:t>Every day you will get closer to the goal you set.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E2FA8-5140-4B68-AE3C-12EF2D3D5E8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984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many great ideas how to develop our project:</a:t>
            </a:r>
            <a:br>
              <a:rPr lang="en-US" dirty="0"/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</a:t>
            </a:r>
            <a:r>
              <a:rPr lang="en-US" dirty="0"/>
              <a:t>are working on mobile app</a:t>
            </a:r>
            <a:br>
              <a:rPr lang="en-US" dirty="0"/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dirty="0"/>
              <a:t>we are going to add awards and subscriptions for thematic services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E2FA8-5140-4B68-AE3C-12EF2D3D5E8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591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9F13C-0092-45AF-8BE6-8539B6EA2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EBB156-630F-468E-A953-6B1F7AC4C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3AED0C-D679-4311-9C3E-E27D94A8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CA5E1-D2D8-4F06-8D16-BA521C818F64}" type="datetime1">
              <a:rPr lang="ru-RU" smtClean="0"/>
              <a:t>10.10.2020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FDE4A6-D46C-4DC1-A94A-4A9B15E1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19AF18-2AFC-4E1A-91A8-BFEC98C9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677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67068-67BA-4204-B670-B2364AD11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B26F5F-E38C-47C9-AF3F-D75648B61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078947-29E7-4185-9303-E3E2FA088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E4E92-2B24-4302-BC96-D84FEA1BE389}" type="datetime1">
              <a:rPr lang="ru-RU" smtClean="0"/>
              <a:t>10.10.2020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44132C-720B-4DAB-BA03-CFD1240AF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48C0D9-E4D3-4D39-A977-F03DBAF4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459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D2CC86-4819-491E-B5B2-ABB6E385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11CC2E-B60F-4CBF-ADF5-AD63DD029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581385-9020-42A6-BFB4-0E6A4012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5E0A-EC3E-41B9-B778-8BFB93A68671}" type="datetime1">
              <a:rPr lang="ru-RU" smtClean="0"/>
              <a:t>10.10.2020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3875EE-3C24-4675-9C81-3404C86C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B84EA0-3626-434F-871F-7200780B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3973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6A19E-8901-42C5-811F-3537ADC07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48D1B2-DFBA-46EC-9461-1DD13FF5B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639328-1C72-4B19-9944-F7AE2FE1A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19D31E-D897-4E82-82B2-372ADE07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453D6-E3F7-4D27-BE56-B8B650D39C23}" type="datetime1">
              <a:rPr lang="ru-RU" smtClean="0"/>
              <a:t>10.10.2020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CD3F20-FC00-4ED4-A269-7097E02A0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54ED2F-9D4B-4F94-8DF0-A270A4F5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293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9DA4F-D4DE-4DBC-B37B-438014497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ABDD74-48A3-460D-A1D1-E0F8D3412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5D6F83-2427-4816-893D-1AE76F2D0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B01418-8E93-494B-BB4C-96DEE6B62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F9C317-E4CB-4B5B-A829-398249A68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3FD46BC-9F0E-4D9D-A4C5-5EB2015B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A67D-0914-4CD5-BBD6-F9599FA77BB7}" type="datetime1">
              <a:rPr lang="ru-RU" smtClean="0"/>
              <a:t>10.10.2020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7625823-6C54-4D96-B967-BD0E875B1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5512B17-4EC6-4CB1-8D75-DBF85769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746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36A40-2597-4CE5-934D-A477288F0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490E8A-0439-4B62-8873-7AF0F9C1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8B1B-CFA5-4190-920C-D981EEF94AA3}" type="datetime1">
              <a:rPr lang="ru-RU" smtClean="0"/>
              <a:t>10.10.2020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FBFF14-131A-4EAF-B310-1FE709EC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516411-9238-4FCB-BF97-B9DEC6EBB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37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CF8E474-BCE2-49A5-B20C-D3D312B2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42296-45AD-4233-BCB3-9A56B7499580}" type="datetime1">
              <a:rPr lang="ru-RU" smtClean="0"/>
              <a:t>10.10.2020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AF8CCFA-3A6E-4B4B-B0C1-3A2D8D22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246A35-E250-4C57-B32A-D2F774A5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49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1EC0A-D4C0-4FAD-A6D5-7196803AB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EEDBFB-6A55-4E33-8B1D-906DFA627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9C162C-517D-4D3E-ABFE-39608F415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342D06-1ED5-4005-8F79-478CFA9F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54A9A-B142-4DA5-AED1-CB79FDEF09CD}" type="datetime1">
              <a:rPr lang="ru-RU" smtClean="0"/>
              <a:t>10.10.2020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F75A80-4793-4B8D-898E-FC5C1AFB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5299A4-53EB-4D27-85D7-81E36B3F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80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168C7-4BD1-4466-A08A-6A761A8D4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3A19A6-66F8-4870-B3DF-ACD3F9AAC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07F6B3-DFA3-42C1-85FB-5BF103F78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54F505-3412-46DB-BF5A-33B44CEB9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090B9-0BBE-4E2B-AD51-8874B1B1E091}" type="datetime1">
              <a:rPr lang="ru-RU" smtClean="0"/>
              <a:t>10.10.2020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7ED76B-014E-4321-A0B2-C2CB5E61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C511C9-9A79-4472-935C-31359FA5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64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80969-BD40-4797-B869-D4519C09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010A11-9B31-4C85-BD91-ABC70FBA6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DFA82C-2573-4F33-9796-1A44C2144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E3BB-A742-4ACE-BB2C-77FF7E43C8C1}" type="datetime1">
              <a:rPr lang="ru-RU" smtClean="0"/>
              <a:t>10.10.2020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6C72FA-48A9-4643-B491-253C568B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341D65-D520-4E4A-9207-89619522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616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F7DADA0-E516-41C1-8C51-0B9D70A1E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F7290F-91FD-403A-B24A-0E14ECDA6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B85861-9CF1-472C-9EC7-FA49CB94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15D6-8F95-4D7C-AFD5-3CEF933B6641}" type="datetime1">
              <a:rPr lang="ru-RU" smtClean="0"/>
              <a:t>10.10.2020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37EE08-D95B-4235-A15C-E5112839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1E103-09A3-4184-9CCC-573F8BC1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34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452A2-C063-48B7-879A-B54D3E2F4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37E278-99CB-4C23-9D40-86C99DF38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133718-529F-4970-9019-0DEE8FABE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60A10-E032-40DE-B3C2-1E0AA6271431}" type="datetime1">
              <a:rPr lang="ru-RU" smtClean="0"/>
              <a:t>10.10.2020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AEF426-BCDC-4C8F-9BB8-0B13DF9A7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 According to Washington post 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5C6E1F-ADC0-49BE-9A65-D568EFCC2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757C3-23C9-4596-98E8-FE5D4B1D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77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B3E70D-03D1-4EB6-9F99-03FC1360D221}"/>
              </a:ext>
            </a:extLst>
          </p:cNvPr>
          <p:cNvSpPr txBox="1"/>
          <p:nvPr/>
        </p:nvSpPr>
        <p:spPr>
          <a:xfrm>
            <a:off x="4511105" y="4093878"/>
            <a:ext cx="35087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0" b="1" dirty="0">
                <a:solidFill>
                  <a:srgbClr val="81625F"/>
                </a:solidFill>
              </a:rPr>
              <a:t>改善</a:t>
            </a:r>
            <a:endParaRPr lang="ru-RU" sz="12000" dirty="0">
              <a:solidFill>
                <a:srgbClr val="8162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0642F-77B4-4BB5-9FFC-469D7DD7EC2E}"/>
              </a:ext>
            </a:extLst>
          </p:cNvPr>
          <p:cNvSpPr txBox="1"/>
          <p:nvPr/>
        </p:nvSpPr>
        <p:spPr>
          <a:xfrm>
            <a:off x="2805659" y="1767390"/>
            <a:ext cx="658068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>
                <a:solidFill>
                  <a:srgbClr val="81625F"/>
                </a:solidFill>
                <a:latin typeface="Cambria" panose="02040503050406030204" pitchFamily="18" charset="0"/>
              </a:rPr>
              <a:t>Kai</a:t>
            </a:r>
            <a:r>
              <a:rPr lang="en-US" sz="9600" dirty="0" err="1">
                <a:solidFill>
                  <a:srgbClr val="DF9398"/>
                </a:solidFill>
                <a:latin typeface="Cambria" panose="02040503050406030204" pitchFamily="18" charset="0"/>
              </a:rPr>
              <a:t>Pass</a:t>
            </a:r>
            <a:endParaRPr lang="en-US" sz="9600" dirty="0">
              <a:solidFill>
                <a:srgbClr val="DF9398"/>
              </a:solidFill>
              <a:latin typeface="Cambria" panose="02040503050406030204" pitchFamily="18" charset="0"/>
            </a:endParaRPr>
          </a:p>
          <a:p>
            <a:pPr algn="ctr"/>
            <a:r>
              <a:rPr lang="en-US" sz="5400" dirty="0">
                <a:solidFill>
                  <a:srgbClr val="DF9398"/>
                </a:solidFill>
                <a:latin typeface="Cambria" panose="02040503050406030204" pitchFamily="18" charset="0"/>
              </a:rPr>
              <a:t>Is your pass to </a:t>
            </a:r>
            <a:r>
              <a:rPr lang="en-US" sz="5400" dirty="0" err="1">
                <a:solidFill>
                  <a:srgbClr val="81625F"/>
                </a:solidFill>
                <a:latin typeface="Cambria" panose="02040503050406030204" pitchFamily="18" charset="0"/>
              </a:rPr>
              <a:t>zen</a:t>
            </a:r>
            <a:endParaRPr lang="ru-RU" sz="5400" dirty="0">
              <a:solidFill>
                <a:srgbClr val="81625F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1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F4F26-181A-40EF-BB41-F88571C5C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184" y="334349"/>
            <a:ext cx="4720119" cy="105705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DF9398"/>
                </a:solidFill>
                <a:latin typeface="Cambria" panose="02040503050406030204" pitchFamily="18" charset="0"/>
              </a:rPr>
              <a:t>Market size</a:t>
            </a:r>
            <a:endParaRPr lang="ru-RU" sz="5400" dirty="0">
              <a:solidFill>
                <a:srgbClr val="DF9398"/>
              </a:solidFill>
              <a:latin typeface="Cambria" panose="0204050305040603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BCAB45-48D0-4D1D-ADC0-08360AB8A8EE}"/>
              </a:ext>
            </a:extLst>
          </p:cNvPr>
          <p:cNvSpPr txBox="1"/>
          <p:nvPr/>
        </p:nvSpPr>
        <p:spPr>
          <a:xfrm>
            <a:off x="4336363" y="2490281"/>
            <a:ext cx="785563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81625F"/>
                </a:solidFill>
                <a:latin typeface="Cambria" panose="02040503050406030204" pitchFamily="18" charset="0"/>
              </a:rPr>
              <a:t>62%</a:t>
            </a:r>
            <a:r>
              <a:rPr lang="en-US" sz="3600" dirty="0">
                <a:solidFill>
                  <a:srgbClr val="DF9398"/>
                </a:solidFill>
                <a:latin typeface="Cambria" panose="02040503050406030204" pitchFamily="18" charset="0"/>
              </a:rPr>
              <a:t> </a:t>
            </a:r>
            <a:r>
              <a:rPr lang="en-US" sz="3600" dirty="0">
                <a:solidFill>
                  <a:srgbClr val="81625F"/>
                </a:solidFill>
                <a:latin typeface="Cambria" panose="02040503050406030204" pitchFamily="18" charset="0"/>
              </a:rPr>
              <a:t>of them </a:t>
            </a:r>
            <a:r>
              <a:rPr lang="en-US" sz="3600" dirty="0">
                <a:solidFill>
                  <a:srgbClr val="DF9398"/>
                </a:solidFill>
                <a:latin typeface="Cambria" panose="02040503050406030204" pitchFamily="18" charset="0"/>
              </a:rPr>
              <a:t>suffered from boredom</a:t>
            </a:r>
            <a:r>
              <a:rPr lang="en-US" sz="3600" dirty="0">
                <a:solidFill>
                  <a:srgbClr val="81625F"/>
                </a:solidFill>
                <a:latin typeface="Cambria" panose="02040503050406030204" pitchFamily="18" charset="0"/>
              </a:rPr>
              <a:t>¹</a:t>
            </a:r>
          </a:p>
          <a:p>
            <a:endParaRPr lang="ru-RU" sz="4000" dirty="0">
              <a:solidFill>
                <a:srgbClr val="DF9398"/>
              </a:solidFill>
              <a:latin typeface="Cambria" panose="02040503050406030204" pitchFamily="18" charset="0"/>
            </a:endParaRPr>
          </a:p>
        </p:txBody>
      </p:sp>
      <p:graphicFrame>
        <p:nvGraphicFramePr>
          <p:cNvPr id="25" name="Объект 23">
            <a:extLst>
              <a:ext uri="{FF2B5EF4-FFF2-40B4-BE49-F238E27FC236}">
                <a16:creationId xmlns:a16="http://schemas.microsoft.com/office/drawing/2014/main" id="{C56DF980-CC45-42CE-B75C-455F9902AB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434162"/>
              </p:ext>
            </p:extLst>
          </p:nvPr>
        </p:nvGraphicFramePr>
        <p:xfrm>
          <a:off x="154782" y="1193006"/>
          <a:ext cx="4542632" cy="47422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DC9168BC-6B19-4B6D-96FD-AF6BC9E5B7DA}"/>
              </a:ext>
            </a:extLst>
          </p:cNvPr>
          <p:cNvSpPr txBox="1"/>
          <p:nvPr/>
        </p:nvSpPr>
        <p:spPr>
          <a:xfrm>
            <a:off x="3772926" y="1480236"/>
            <a:ext cx="8264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81625F"/>
                </a:solidFill>
                <a:latin typeface="Cambria" panose="02040503050406030204" pitchFamily="18" charset="0"/>
              </a:rPr>
              <a:t>1.5 billion people </a:t>
            </a:r>
            <a:r>
              <a:rPr lang="en-US" sz="3600" dirty="0">
                <a:solidFill>
                  <a:srgbClr val="DF9398"/>
                </a:solidFill>
                <a:latin typeface="Cambria" panose="02040503050406030204" pitchFamily="18" charset="0"/>
              </a:rPr>
              <a:t>were </a:t>
            </a:r>
            <a:r>
              <a:rPr lang="en-US" sz="3600" dirty="0">
                <a:solidFill>
                  <a:srgbClr val="81625F"/>
                </a:solidFill>
                <a:latin typeface="Cambria" panose="02040503050406030204" pitchFamily="18" charset="0"/>
              </a:rPr>
              <a:t>under lockdown</a:t>
            </a:r>
            <a:endParaRPr lang="ru-RU" sz="3600" dirty="0">
              <a:solidFill>
                <a:srgbClr val="81625F"/>
              </a:solidFill>
              <a:latin typeface="Cambria" panose="0204050305040603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FE138B-6A0A-46C6-B9CC-A34352711639}"/>
              </a:ext>
            </a:extLst>
          </p:cNvPr>
          <p:cNvSpPr txBox="1"/>
          <p:nvPr/>
        </p:nvSpPr>
        <p:spPr>
          <a:xfrm>
            <a:off x="4336363" y="3413852"/>
            <a:ext cx="63072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DF9398"/>
                </a:solidFill>
                <a:latin typeface="Cambria" panose="02040503050406030204" pitchFamily="18" charset="0"/>
              </a:rPr>
              <a:t>Potential market size - up to</a:t>
            </a:r>
          </a:p>
          <a:p>
            <a:r>
              <a:rPr lang="en-US" sz="4000" dirty="0">
                <a:solidFill>
                  <a:srgbClr val="81625F"/>
                </a:solidFill>
                <a:latin typeface="Cambria" panose="02040503050406030204" pitchFamily="18" charset="0"/>
              </a:rPr>
              <a:t>0.9 billion people</a:t>
            </a:r>
            <a:r>
              <a:rPr lang="en-US" sz="4000" dirty="0">
                <a:solidFill>
                  <a:srgbClr val="DF9398"/>
                </a:solidFill>
                <a:latin typeface="Cambria" panose="02040503050406030204" pitchFamily="18" charset="0"/>
              </a:rPr>
              <a:t>(LOL) </a:t>
            </a:r>
          </a:p>
        </p:txBody>
      </p:sp>
      <p:sp>
        <p:nvSpPr>
          <p:cNvPr id="34" name="Нижний колонтитул 33">
            <a:extLst>
              <a:ext uri="{FF2B5EF4-FFF2-40B4-BE49-F238E27FC236}">
                <a16:creationId xmlns:a16="http://schemas.microsoft.com/office/drawing/2014/main" id="{EEC65472-2610-4D49-8A90-2A22FE82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82748" y="6153748"/>
            <a:ext cx="4252957" cy="794159"/>
          </a:xfrm>
        </p:spPr>
        <p:txBody>
          <a:bodyPr/>
          <a:lstStyle/>
          <a:p>
            <a:r>
              <a:rPr lang="en-US" sz="2000" dirty="0">
                <a:solidFill>
                  <a:srgbClr val="81625F"/>
                </a:solidFill>
              </a:rPr>
              <a:t>1. According to </a:t>
            </a:r>
            <a:r>
              <a:rPr lang="en-US" sz="2000" i="1" dirty="0">
                <a:solidFill>
                  <a:srgbClr val="81625F"/>
                </a:solidFill>
              </a:rPr>
              <a:t>Washington post </a:t>
            </a:r>
            <a:endParaRPr lang="ru-RU" sz="2000" i="1" dirty="0">
              <a:solidFill>
                <a:srgbClr val="81625F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5C660B-78AB-4C2B-A641-3F11801A7B3C}"/>
              </a:ext>
            </a:extLst>
          </p:cNvPr>
          <p:cNvSpPr txBox="1"/>
          <p:nvPr/>
        </p:nvSpPr>
        <p:spPr>
          <a:xfrm>
            <a:off x="3157200" y="5377764"/>
            <a:ext cx="89759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DF9398"/>
                </a:solidFill>
                <a:latin typeface="Cambria" panose="02040503050406030204" pitchFamily="18" charset="0"/>
              </a:rPr>
              <a:t>OK, just </a:t>
            </a:r>
            <a:r>
              <a:rPr lang="en-US" sz="3600" dirty="0">
                <a:solidFill>
                  <a:srgbClr val="81625F"/>
                </a:solidFill>
                <a:latin typeface="Cambria" panose="02040503050406030204" pitchFamily="18" charset="0"/>
              </a:rPr>
              <a:t>0.5 billion </a:t>
            </a:r>
            <a:r>
              <a:rPr lang="en-US" sz="3600" dirty="0">
                <a:solidFill>
                  <a:srgbClr val="DF9398"/>
                </a:solidFill>
                <a:latin typeface="Cambria" panose="02040503050406030204" pitchFamily="18" charset="0"/>
              </a:rPr>
              <a:t>of them are </a:t>
            </a:r>
            <a:r>
              <a:rPr lang="en-US" sz="3600" dirty="0">
                <a:solidFill>
                  <a:srgbClr val="81625F"/>
                </a:solidFill>
                <a:latin typeface="Cambria" panose="02040503050406030204" pitchFamily="18" charset="0"/>
              </a:rPr>
              <a:t>internet users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9345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7F5B4-C590-44E3-904A-60DF9A3C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DF9398"/>
                </a:solidFill>
                <a:latin typeface="Cambria" panose="02040503050406030204" pitchFamily="18" charset="0"/>
              </a:rPr>
              <a:t>KaiPass</a:t>
            </a:r>
            <a:endParaRPr lang="ru-RU" dirty="0">
              <a:solidFill>
                <a:srgbClr val="DF9398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2A4B3-20E5-4CDC-80E7-980BAC2D1292}"/>
              </a:ext>
            </a:extLst>
          </p:cNvPr>
          <p:cNvSpPr txBox="1"/>
          <p:nvPr/>
        </p:nvSpPr>
        <p:spPr>
          <a:xfrm>
            <a:off x="732033" y="4020904"/>
            <a:ext cx="56516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DF9398"/>
                </a:solidFill>
                <a:latin typeface="Cambria" panose="02040503050406030204" pitchFamily="18" charset="0"/>
              </a:rPr>
              <a:t>Kaizen </a:t>
            </a:r>
            <a:r>
              <a:rPr lang="en-US" sz="6000" dirty="0">
                <a:solidFill>
                  <a:srgbClr val="A67878"/>
                </a:solidFill>
                <a:latin typeface="Cambria" panose="02040503050406030204" pitchFamily="18" charset="0"/>
              </a:rPr>
              <a:t>theory</a:t>
            </a:r>
            <a:endParaRPr lang="ru-RU" sz="6000" dirty="0">
              <a:solidFill>
                <a:srgbClr val="A67878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1DD23-758D-498B-9794-7D8F16F23661}"/>
              </a:ext>
            </a:extLst>
          </p:cNvPr>
          <p:cNvSpPr txBox="1"/>
          <p:nvPr/>
        </p:nvSpPr>
        <p:spPr>
          <a:xfrm>
            <a:off x="814226" y="5248518"/>
            <a:ext cx="44178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A67878"/>
                </a:solidFill>
                <a:latin typeface="Cambria" panose="02040503050406030204" pitchFamily="18" charset="0"/>
              </a:rPr>
              <a:t>Battle</a:t>
            </a:r>
            <a:r>
              <a:rPr lang="en-US" sz="6000" dirty="0">
                <a:solidFill>
                  <a:srgbClr val="DF9398"/>
                </a:solidFill>
                <a:latin typeface="Cambria" panose="02040503050406030204" pitchFamily="18" charset="0"/>
              </a:rPr>
              <a:t> </a:t>
            </a:r>
            <a:r>
              <a:rPr lang="en-US" sz="6000" dirty="0">
                <a:solidFill>
                  <a:srgbClr val="81625F"/>
                </a:solidFill>
                <a:latin typeface="Cambria" panose="02040503050406030204" pitchFamily="18" charset="0"/>
              </a:rPr>
              <a:t>pass</a:t>
            </a:r>
            <a:endParaRPr lang="ru-RU" sz="6000" dirty="0">
              <a:solidFill>
                <a:srgbClr val="8162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BD114-D82C-4F83-9DC7-679EEB2B858E}"/>
              </a:ext>
            </a:extLst>
          </p:cNvPr>
          <p:cNvSpPr txBox="1"/>
          <p:nvPr/>
        </p:nvSpPr>
        <p:spPr>
          <a:xfrm>
            <a:off x="5426468" y="3687901"/>
            <a:ext cx="13390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dirty="0">
                <a:solidFill>
                  <a:srgbClr val="A67878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}</a:t>
            </a:r>
            <a:endParaRPr lang="ru-RU" sz="20000" dirty="0">
              <a:solidFill>
                <a:srgbClr val="A67878"/>
              </a:solidFill>
              <a:ea typeface="SimSun-ExtB" panose="02010609060101010101" pitchFamily="49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FDB73E-2D63-4BEB-8B34-B38D4367196F}"/>
              </a:ext>
            </a:extLst>
          </p:cNvPr>
          <p:cNvSpPr txBox="1"/>
          <p:nvPr/>
        </p:nvSpPr>
        <p:spPr>
          <a:xfrm>
            <a:off x="6096000" y="4312904"/>
            <a:ext cx="484854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err="1">
                <a:solidFill>
                  <a:srgbClr val="DF9398"/>
                </a:solidFill>
                <a:latin typeface="Cambria" panose="02040503050406030204" pitchFamily="18" charset="0"/>
              </a:rPr>
              <a:t>Kai</a:t>
            </a:r>
            <a:r>
              <a:rPr lang="en-US" sz="6600" dirty="0" err="1">
                <a:solidFill>
                  <a:srgbClr val="81625F"/>
                </a:solidFill>
                <a:latin typeface="Cambria" panose="02040503050406030204" pitchFamily="18" charset="0"/>
              </a:rPr>
              <a:t>Pass</a:t>
            </a:r>
            <a:endParaRPr lang="en-US" sz="6600" dirty="0">
              <a:solidFill>
                <a:srgbClr val="81625F"/>
              </a:solidFill>
              <a:latin typeface="Cambria" panose="02040503050406030204" pitchFamily="18" charset="0"/>
            </a:endParaRPr>
          </a:p>
          <a:p>
            <a:pPr algn="ctr"/>
            <a:r>
              <a:rPr lang="en-US" sz="3600" dirty="0">
                <a:solidFill>
                  <a:srgbClr val="A67878"/>
                </a:solidFill>
                <a:latin typeface="Cambria" panose="02040503050406030204" pitchFamily="18" charset="0"/>
              </a:rPr>
              <a:t>Is your pass to </a:t>
            </a:r>
            <a:r>
              <a:rPr lang="en-US" sz="3600" dirty="0" err="1">
                <a:solidFill>
                  <a:srgbClr val="DF9398"/>
                </a:solidFill>
                <a:latin typeface="Cambria" panose="02040503050406030204" pitchFamily="18" charset="0"/>
              </a:rPr>
              <a:t>zen</a:t>
            </a:r>
            <a:endParaRPr lang="ru-RU" sz="3600" dirty="0">
              <a:solidFill>
                <a:srgbClr val="DF939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09139A-B5EA-4667-8F53-BB3D56E36A4D}"/>
              </a:ext>
            </a:extLst>
          </p:cNvPr>
          <p:cNvSpPr txBox="1"/>
          <p:nvPr/>
        </p:nvSpPr>
        <p:spPr>
          <a:xfrm>
            <a:off x="1131014" y="1714099"/>
            <a:ext cx="8670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DF9398"/>
                </a:solidFill>
                <a:latin typeface="Cambria" panose="02040503050406030204" pitchFamily="18" charset="0"/>
              </a:rPr>
              <a:t>Kaizen</a:t>
            </a:r>
            <a:r>
              <a:rPr lang="en-US" sz="3200" dirty="0">
                <a:solidFill>
                  <a:srgbClr val="DF9398"/>
                </a:solidFill>
                <a:latin typeface="Cambria" panose="02040503050406030204" pitchFamily="18" charset="0"/>
              </a:rPr>
              <a:t> – Japanese theory for “change for better”</a:t>
            </a:r>
            <a:endParaRPr lang="ru-RU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AF4F6F-DF72-4F6A-87EB-39B57FEB359C}"/>
              </a:ext>
            </a:extLst>
          </p:cNvPr>
          <p:cNvSpPr txBox="1"/>
          <p:nvPr/>
        </p:nvSpPr>
        <p:spPr>
          <a:xfrm>
            <a:off x="2549702" y="4417522"/>
            <a:ext cx="90911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A67878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+</a:t>
            </a:r>
            <a:endParaRPr lang="ru-RU" sz="9600" dirty="0">
              <a:solidFill>
                <a:srgbClr val="A67878"/>
              </a:solidFill>
              <a:ea typeface="SimSun-ExtB" panose="02010609060101010101" pitchFamily="49" charset="-122"/>
            </a:endParaRPr>
          </a:p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51952D-5964-41DB-9666-F99EB5013FF1}"/>
              </a:ext>
            </a:extLst>
          </p:cNvPr>
          <p:cNvSpPr txBox="1"/>
          <p:nvPr/>
        </p:nvSpPr>
        <p:spPr>
          <a:xfrm>
            <a:off x="1131014" y="2352362"/>
            <a:ext cx="101889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DF9398"/>
                </a:solidFill>
                <a:latin typeface="Cambria" panose="02040503050406030204" pitchFamily="18" charset="0"/>
              </a:rPr>
              <a:t>Battle pass </a:t>
            </a:r>
            <a:r>
              <a:rPr lang="en-US" sz="3200" dirty="0">
                <a:solidFill>
                  <a:srgbClr val="DF9398"/>
                </a:solidFill>
                <a:latin typeface="Cambria" panose="02040503050406030204" pitchFamily="18" charset="0"/>
              </a:rPr>
              <a:t>– a type of monetization approach rewarding</a:t>
            </a:r>
          </a:p>
          <a:p>
            <a:r>
              <a:rPr lang="en-US" sz="3200" dirty="0">
                <a:solidFill>
                  <a:srgbClr val="DF9398"/>
                </a:solidFill>
                <a:latin typeface="Cambria" panose="02040503050406030204" pitchFamily="18" charset="0"/>
              </a:rPr>
              <a:t>the player with in-game items for playing the game and </a:t>
            </a:r>
          </a:p>
          <a:p>
            <a:r>
              <a:rPr lang="en-US" sz="3200" dirty="0">
                <a:solidFill>
                  <a:srgbClr val="DF9398"/>
                </a:solidFill>
                <a:latin typeface="Cambria" panose="02040503050406030204" pitchFamily="18" charset="0"/>
              </a:rPr>
              <a:t>completing specific challenges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15353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D4B96-4D3C-4EAF-A12B-1ED81516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F9398"/>
                </a:solidFill>
                <a:latin typeface="Cambria" panose="02040503050406030204" pitchFamily="18" charset="0"/>
              </a:rPr>
              <a:t>How does it work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A82042C-738C-4EA7-8034-377311417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725" y="365125"/>
            <a:ext cx="6134275" cy="3063875"/>
          </a:xfrm>
          <a:prstGeom prst="rect">
            <a:avLst/>
          </a:prstGeom>
        </p:spPr>
      </p:pic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8649E1C7-96E5-453E-8F62-F5388C770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40" y="3002666"/>
            <a:ext cx="6588964" cy="3290977"/>
          </a:xfrm>
        </p:spPr>
      </p:pic>
    </p:spTree>
    <p:extLst>
      <p:ext uri="{BB962C8B-B14F-4D97-AF65-F5344CB8AC3E}">
        <p14:creationId xmlns:p14="http://schemas.microsoft.com/office/powerpoint/2010/main" val="3845231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BAADB1-98D0-4ECE-99E2-C4B37B5F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F9398"/>
                </a:solidFill>
                <a:latin typeface="Cambria" panose="02040503050406030204" pitchFamily="18" charset="0"/>
              </a:rPr>
              <a:t>Plans for the future</a:t>
            </a:r>
            <a:endParaRPr lang="ru-RU" dirty="0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2DF32D2F-3582-4E54-860B-6F99ABAFC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605" y="1700627"/>
            <a:ext cx="2354713" cy="4178078"/>
          </a:xfr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5740D06-24CD-4A3D-9CB0-F655F3A476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985" y="1700628"/>
            <a:ext cx="2351566" cy="41780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A6ED8F-EEF3-4DB8-BED2-86C4C81A5730}"/>
              </a:ext>
            </a:extLst>
          </p:cNvPr>
          <p:cNvSpPr txBox="1"/>
          <p:nvPr/>
        </p:nvSpPr>
        <p:spPr>
          <a:xfrm>
            <a:off x="496952" y="2894722"/>
            <a:ext cx="3831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1625F"/>
                </a:solidFill>
                <a:latin typeface="Cambria" panose="02040503050406030204" pitchFamily="18" charset="0"/>
              </a:rPr>
              <a:t>Mobile app concept</a:t>
            </a:r>
            <a:endParaRPr lang="ru-RU" sz="3200" dirty="0">
              <a:solidFill>
                <a:srgbClr val="8162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4647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3351</TotalTime>
  <Words>422</Words>
  <Application>Microsoft Office PowerPoint</Application>
  <PresentationFormat>Широкоэкранный</PresentationFormat>
  <Paragraphs>39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SimSun-ExtB</vt:lpstr>
      <vt:lpstr>Arial</vt:lpstr>
      <vt:lpstr>Calibri</vt:lpstr>
      <vt:lpstr>Calibri Light</vt:lpstr>
      <vt:lpstr>Cambria</vt:lpstr>
      <vt:lpstr>Тема Office</vt:lpstr>
      <vt:lpstr>Презентация PowerPoint</vt:lpstr>
      <vt:lpstr>Market size</vt:lpstr>
      <vt:lpstr>KaiPass</vt:lpstr>
      <vt:lpstr>How does it work</vt:lpstr>
      <vt:lpstr>Plans for the future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BKonstantin</dc:creator>
  <cp:lastModifiedBy>BKonstantin</cp:lastModifiedBy>
  <cp:revision>1</cp:revision>
  <dcterms:created xsi:type="dcterms:W3CDTF">2020-10-08T20:00:23Z</dcterms:created>
  <dcterms:modified xsi:type="dcterms:W3CDTF">2020-10-11T03:51:33Z</dcterms:modified>
</cp:coreProperties>
</file>